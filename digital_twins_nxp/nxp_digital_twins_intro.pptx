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7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411480"/>
            <a:ext cx="1554480" cy="1554480"/>
          </a:xfrm>
          <a:prstGeom prst="ellipse">
            <a:avLst/>
          </a:prstGeom>
          <a:solidFill>
            <a:srgbClr val="47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1051560"/>
            <a:ext cx="960120" cy="960120"/>
          </a:xfrm>
          <a:prstGeom prst="ellipse">
            <a:avLst/>
          </a:prstGeom>
          <a:solidFill>
            <a:srgbClr val="3DE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11480" y="5349240"/>
            <a:ext cx="1280160" cy="1280160"/>
          </a:xfrm>
          <a:prstGeom prst="ellipse">
            <a:avLst/>
          </a:prstGeom>
          <a:solidFill>
            <a:srgbClr val="A7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960120"/>
            <a:ext cx="6492240" cy="4480560"/>
          </a:xfrm>
          <a:prstGeom prst="roundRect">
            <a:avLst/>
          </a:prstGeom>
          <a:solidFill>
            <a:srgbClr val="19233B"/>
          </a:solidFill>
          <a:ln w="19050">
            <a:solidFill>
              <a:srgbClr val="47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23444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DE1D3"/>
                </a:solidFill>
                <a:latin typeface="Aptos"/>
              </a:rPr>
              <a:t>NXP DIGITAL TWINS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5760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B"/>
                </a:solidFill>
                <a:latin typeface="Aptos"/>
              </a:rPr>
              <a:t>Turn Zephyr board metadata into vivid, actionable digital twins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15468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6C2D9"/>
                </a:solidFill>
                <a:latin typeface="Aptos"/>
              </a:rPr>
              <a:t>Discover boards. Seed twins. Derive custom hardware. Close the loop with real lab validation.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097280"/>
            <a:ext cx="1417320" cy="1234440"/>
          </a:xfrm>
          <a:prstGeom prst="roundRect">
            <a:avLst/>
          </a:prstGeom>
          <a:solidFill>
            <a:srgbClr val="12192B"/>
          </a:solidFill>
          <a:ln w="12700">
            <a:solidFill>
              <a:srgbClr val="2B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79" y="1097280"/>
            <a:ext cx="1417320" cy="73152"/>
          </a:xfrm>
          <a:prstGeom prst="rect">
            <a:avLst/>
          </a:prstGeom>
          <a:solidFill>
            <a:srgbClr val="47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44383" y="1316736"/>
            <a:ext cx="1143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7A3FF"/>
                </a:solidFill>
                <a:latin typeface="Aptos"/>
              </a:rPr>
              <a:t>81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4383" y="1810512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6C2D9"/>
                </a:solidFill>
                <a:latin typeface="Aptos"/>
              </a:rPr>
              <a:t>NXP boards indexed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097280"/>
            <a:ext cx="1417320" cy="1234440"/>
          </a:xfrm>
          <a:prstGeom prst="roundRect">
            <a:avLst/>
          </a:prstGeom>
          <a:solidFill>
            <a:srgbClr val="12192B"/>
          </a:solidFill>
          <a:ln w="12700">
            <a:solidFill>
              <a:srgbClr val="2B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98280" y="1097280"/>
            <a:ext cx="1417320" cy="73152"/>
          </a:xfrm>
          <a:prstGeom prst="rect">
            <a:avLst/>
          </a:prstGeom>
          <a:solidFill>
            <a:srgbClr val="3DE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44584" y="1316736"/>
            <a:ext cx="1143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3DE1D3"/>
                </a:solidFill>
                <a:latin typeface="Aptos"/>
              </a:rPr>
              <a:t>81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44584" y="1810512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6C2D9"/>
                </a:solidFill>
                <a:latin typeface="Aptos"/>
              </a:rPr>
              <a:t>twin seeds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98480" y="1097280"/>
            <a:ext cx="1005840" cy="1234440"/>
          </a:xfrm>
          <a:prstGeom prst="roundRect">
            <a:avLst/>
          </a:prstGeom>
          <a:solidFill>
            <a:srgbClr val="12192B"/>
          </a:solidFill>
          <a:ln w="12700">
            <a:solidFill>
              <a:srgbClr val="2B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698480" y="1097280"/>
            <a:ext cx="1005840" cy="73152"/>
          </a:xfrm>
          <a:prstGeom prst="rect">
            <a:avLst/>
          </a:prstGeom>
          <a:solidFill>
            <a:srgbClr val="A7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44784" y="1316736"/>
            <a:ext cx="731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A778FF"/>
                </a:solidFill>
                <a:latin typeface="Aptos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44784" y="1810512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6C2D9"/>
                </a:solidFill>
                <a:latin typeface="Aptos"/>
              </a:rPr>
              <a:t>custom boards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2560320"/>
            <a:ext cx="4206240" cy="2468880"/>
          </a:xfrm>
          <a:prstGeom prst="roundRect">
            <a:avLst/>
          </a:prstGeom>
          <a:solidFill>
            <a:srgbClr val="12192B"/>
          </a:solidFill>
          <a:ln w="12700">
            <a:solidFill>
              <a:srgbClr val="2B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26679" y="27614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A03D"/>
                </a:solidFill>
                <a:latin typeface="Aptos"/>
              </a:rPr>
              <a:t>Why this matters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99248" y="3090672"/>
            <a:ext cx="3657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5F7FB"/>
                </a:solidFill>
                <a:latin typeface="Aptos"/>
              </a:defRPr>
            </a:pPr>
            <a:r>
              <a:t>Move from board folders to machine-readable engineering knowledge</a:t>
            </a:r>
          </a:p>
          <a:p>
            <a:pPr>
              <a:spcAft>
                <a:spcPts val="600"/>
              </a:spcAft>
              <a:defRPr sz="1600">
                <a:solidFill>
                  <a:srgbClr val="F5F7FB"/>
                </a:solidFill>
                <a:latin typeface="Aptos"/>
              </a:defRPr>
            </a:pPr>
            <a:r>
              <a:t>Create board-level twins before hardware is fully stable</a:t>
            </a:r>
          </a:p>
          <a:p>
            <a:pPr>
              <a:spcAft>
                <a:spcPts val="600"/>
              </a:spcAft>
              <a:defRPr sz="1600">
                <a:solidFill>
                  <a:srgbClr val="F5F7FB"/>
                </a:solidFill>
                <a:latin typeface="Aptos"/>
              </a:defRPr>
            </a:pPr>
            <a:r>
              <a:t>Bridge software, validation, and lab operations in one 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41908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6C2D9"/>
                </a:solidFill>
                <a:latin typeface="Aptos"/>
              </a:rPr>
              <a:t>nxp_digital_twins • overview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641908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6C2D9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7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411480"/>
            <a:ext cx="1554480" cy="1554480"/>
          </a:xfrm>
          <a:prstGeom prst="ellipse">
            <a:avLst/>
          </a:prstGeom>
          <a:solidFill>
            <a:srgbClr val="47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1051560"/>
            <a:ext cx="960120" cy="960120"/>
          </a:xfrm>
          <a:prstGeom prst="ellipse">
            <a:avLst/>
          </a:prstGeom>
          <a:solidFill>
            <a:srgbClr val="3DE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11480" y="5349240"/>
            <a:ext cx="1280160" cy="1280160"/>
          </a:xfrm>
          <a:prstGeom prst="ellipse">
            <a:avLst/>
          </a:prstGeom>
          <a:solidFill>
            <a:srgbClr val="A7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384048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B"/>
                </a:solidFill>
                <a:latin typeface="Aptos"/>
              </a:rPr>
              <a:t>The engineering gap we wanted to close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950976"/>
            <a:ext cx="1417320" cy="45720"/>
          </a:xfrm>
          <a:prstGeom prst="rect">
            <a:avLst/>
          </a:prstGeom>
          <a:solidFill>
            <a:srgbClr val="3DE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3703320" cy="4480560"/>
          </a:xfrm>
          <a:prstGeom prst="roundRect">
            <a:avLst/>
          </a:prstGeom>
          <a:solidFill>
            <a:srgbClr val="12192B"/>
          </a:solidFill>
          <a:ln w="12700">
            <a:solidFill>
              <a:srgbClr val="2B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26280" y="1325880"/>
            <a:ext cx="3703320" cy="4480560"/>
          </a:xfrm>
          <a:prstGeom prst="roundRect">
            <a:avLst/>
          </a:prstGeom>
          <a:solidFill>
            <a:srgbClr val="12192B"/>
          </a:solidFill>
          <a:ln w="12700">
            <a:solidFill>
              <a:srgbClr val="2B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366760" y="1325880"/>
            <a:ext cx="3154680" cy="4480560"/>
          </a:xfrm>
          <a:prstGeom prst="roundRect">
            <a:avLst/>
          </a:prstGeom>
          <a:solidFill>
            <a:srgbClr val="12192B"/>
          </a:solidFill>
          <a:ln w="12700">
            <a:solidFill>
              <a:srgbClr val="2B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7276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5FA5"/>
                </a:solidFill>
                <a:latin typeface="Aptos"/>
              </a:rPr>
              <a:t>Before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38528"/>
            <a:ext cx="3063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5F7FB"/>
                </a:solidFill>
                <a:latin typeface="Aptos"/>
              </a:defRPr>
            </a:pPr>
            <a:r>
              <a:t>Board knowledge lives in DTS, YAML, Kconfig, support scripts, and docs</a:t>
            </a:r>
          </a:p>
          <a:p>
            <a:pPr>
              <a:spcAft>
                <a:spcPts val="600"/>
              </a:spcAft>
              <a:defRPr sz="1800">
                <a:solidFill>
                  <a:srgbClr val="F5F7FB"/>
                </a:solidFill>
                <a:latin typeface="Aptos"/>
              </a:defRPr>
            </a:pPr>
            <a:r>
              <a:t>Target variants are easy to miss across cm4/cm7/ns/qspi/smp/ddr flavors</a:t>
            </a:r>
          </a:p>
          <a:p>
            <a:pPr>
              <a:spcAft>
                <a:spcPts val="600"/>
              </a:spcAft>
              <a:defRPr sz="1800">
                <a:solidFill>
                  <a:srgbClr val="F5F7FB"/>
                </a:solidFill>
                <a:latin typeface="Aptos"/>
              </a:defRPr>
            </a:pPr>
            <a:r>
              <a:t>Custom board spin-offs repeat manual copy/rename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57276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DE1D3"/>
                </a:solidFill>
                <a:latin typeface="Aptos"/>
              </a:rPr>
              <a:t>With nxp_digital_twins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938528"/>
            <a:ext cx="3063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5F7FB"/>
                </a:solidFill>
                <a:latin typeface="Aptos"/>
              </a:defRPr>
            </a:pPr>
            <a:r>
              <a:t>Board inventory becomes structured JSON and readable reports</a:t>
            </a:r>
          </a:p>
          <a:p>
            <a:pPr>
              <a:spcAft>
                <a:spcPts val="600"/>
              </a:spcAft>
              <a:defRPr sz="1800">
                <a:solidFill>
                  <a:srgbClr val="F5F7FB"/>
                </a:solidFill>
                <a:latin typeface="Aptos"/>
              </a:defRPr>
            </a:pPr>
            <a:r>
              <a:t>Every board gets a twin seed with capabilities, targets, and dev metadata</a:t>
            </a:r>
          </a:p>
          <a:p>
            <a:pPr>
              <a:spcAft>
                <a:spcPts val="600"/>
              </a:spcAft>
              <a:defRPr sz="1800">
                <a:solidFill>
                  <a:srgbClr val="F5F7FB"/>
                </a:solidFill>
                <a:latin typeface="Aptos"/>
              </a:defRPr>
            </a:pPr>
            <a:r>
              <a:t>Custom boards can inherit from proven Zephyr reference designs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7072" y="15727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A03D"/>
                </a:solidFill>
                <a:latin typeface="Aptos"/>
              </a:rPr>
              <a:t>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7072" y="1938528"/>
            <a:ext cx="2468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5F7FB"/>
                </a:solidFill>
                <a:latin typeface="Aptos"/>
              </a:defRPr>
            </a:pPr>
            <a:r>
              <a:t>Faster board selection</a:t>
            </a:r>
          </a:p>
          <a:p>
            <a:pPr>
              <a:spcAft>
                <a:spcPts val="600"/>
              </a:spcAft>
              <a:defRPr sz="1800">
                <a:solidFill>
                  <a:srgbClr val="F5F7FB"/>
                </a:solidFill>
                <a:latin typeface="Aptos"/>
              </a:defRPr>
            </a:pPr>
            <a:r>
              <a:t>Traceable customization</a:t>
            </a:r>
          </a:p>
          <a:p>
            <a:pPr>
              <a:spcAft>
                <a:spcPts val="600"/>
              </a:spcAft>
              <a:defRPr sz="1800">
                <a:solidFill>
                  <a:srgbClr val="F5F7FB"/>
                </a:solidFill>
                <a:latin typeface="Aptos"/>
              </a:defRPr>
            </a:pPr>
            <a:r>
              <a:t>Better lab readiness</a:t>
            </a:r>
          </a:p>
          <a:p>
            <a:pPr>
              <a:spcAft>
                <a:spcPts val="600"/>
              </a:spcAft>
              <a:defRPr sz="1800">
                <a:solidFill>
                  <a:srgbClr val="F5F7FB"/>
                </a:solidFill>
                <a:latin typeface="Aptos"/>
              </a:defRPr>
            </a:pPr>
            <a:r>
              <a:t>Cleaner automation handoff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1908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6C2D9"/>
                </a:solidFill>
                <a:latin typeface="Aptos"/>
              </a:rPr>
              <a:t>nxp_digital_twins • problem statement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641908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6C2D9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7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411480"/>
            <a:ext cx="1554480" cy="1554480"/>
          </a:xfrm>
          <a:prstGeom prst="ellipse">
            <a:avLst/>
          </a:prstGeom>
          <a:solidFill>
            <a:srgbClr val="47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1051560"/>
            <a:ext cx="960120" cy="960120"/>
          </a:xfrm>
          <a:prstGeom prst="ellipse">
            <a:avLst/>
          </a:prstGeom>
          <a:solidFill>
            <a:srgbClr val="3DE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11480" y="5349240"/>
            <a:ext cx="1280160" cy="1280160"/>
          </a:xfrm>
          <a:prstGeom prst="ellipse">
            <a:avLst/>
          </a:prstGeom>
          <a:solidFill>
            <a:srgbClr val="A7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384048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B"/>
                </a:solidFill>
                <a:latin typeface="Aptos"/>
              </a:rPr>
              <a:t>What is inside the nxp_digital_twins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950976"/>
            <a:ext cx="1417320" cy="45720"/>
          </a:xfrm>
          <a:prstGeom prst="rect">
            <a:avLst/>
          </a:prstGeom>
          <a:solidFill>
            <a:srgbClr val="3DE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3429000" cy="4434840"/>
          </a:xfrm>
          <a:prstGeom prst="roundRect">
            <a:avLst/>
          </a:prstGeom>
          <a:solidFill>
            <a:srgbClr val="12192B"/>
          </a:solidFill>
          <a:ln w="12700">
            <a:solidFill>
              <a:srgbClr val="2B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70832" y="1325880"/>
            <a:ext cx="3429000" cy="4434840"/>
          </a:xfrm>
          <a:prstGeom prst="roundRect">
            <a:avLst/>
          </a:prstGeom>
          <a:solidFill>
            <a:srgbClr val="12192B"/>
          </a:solidFill>
          <a:ln w="12700">
            <a:solidFill>
              <a:srgbClr val="2B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10144" y="1325880"/>
            <a:ext cx="3429000" cy="4434840"/>
          </a:xfrm>
          <a:prstGeom prst="roundRect">
            <a:avLst/>
          </a:prstGeom>
          <a:solidFill>
            <a:srgbClr val="12192B"/>
          </a:solidFill>
          <a:ln w="12700">
            <a:solidFill>
              <a:srgbClr val="2B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5727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7A3FF"/>
                </a:solidFill>
                <a:latin typeface="Aptos"/>
              </a:rPr>
              <a:t>tools/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1901952"/>
            <a:ext cx="27889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5F7FB"/>
                </a:solidFill>
                <a:latin typeface="Aptos"/>
              </a:defRPr>
            </a:pPr>
            <a:r>
              <a:t>generate_nxp_board_knowledge.py</a:t>
            </a:r>
          </a:p>
          <a:p>
            <a:pPr>
              <a:spcAft>
                <a:spcPts val="600"/>
              </a:spcAft>
              <a:defRPr sz="1800">
                <a:solidFill>
                  <a:srgbClr val="F5F7FB"/>
                </a:solidFill>
                <a:latin typeface="Aptos"/>
              </a:defRPr>
            </a:pPr>
            <a:r>
              <a:t>create_custom_board.py</a:t>
            </a:r>
          </a:p>
          <a:p>
            <a:pPr>
              <a:spcAft>
                <a:spcPts val="600"/>
              </a:spcAft>
              <a:defRPr sz="1800">
                <a:solidFill>
                  <a:srgbClr val="F5F7FB"/>
                </a:solidFill>
                <a:latin typeface="Aptos"/>
              </a:defRPr>
            </a:pPr>
            <a:r>
              <a:t>create_zephyr_custom_board.py</a:t>
            </a:r>
          </a:p>
          <a:p>
            <a:pPr>
              <a:spcAft>
                <a:spcPts val="600"/>
              </a:spcAft>
              <a:defRPr sz="1800">
                <a:solidFill>
                  <a:srgbClr val="F5F7FB"/>
                </a:solidFill>
                <a:latin typeface="Aptos"/>
              </a:defRPr>
            </a:pPr>
            <a:r>
              <a:t>Scripts turn source trees into reusable artifacts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5727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DE1D3"/>
                </a:solidFill>
                <a:latin typeface="Aptos"/>
              </a:rPr>
              <a:t>skills/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901952"/>
            <a:ext cx="27889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5F7FB"/>
                </a:solidFill>
                <a:latin typeface="Aptos"/>
              </a:defRPr>
            </a:pPr>
            <a:r>
              <a:t>board_selection.md</a:t>
            </a:r>
          </a:p>
          <a:p>
            <a:pPr>
              <a:spcAft>
                <a:spcPts val="600"/>
              </a:spcAft>
              <a:defRPr sz="1800">
                <a:solidFill>
                  <a:srgbClr val="F5F7FB"/>
                </a:solidFill>
                <a:latin typeface="Aptos"/>
              </a:defRPr>
            </a:pPr>
            <a:r>
              <a:t>twin_modeling_workflow.md</a:t>
            </a:r>
          </a:p>
          <a:p>
            <a:pPr>
              <a:spcAft>
                <a:spcPts val="600"/>
              </a:spcAft>
              <a:defRPr sz="1800">
                <a:solidFill>
                  <a:srgbClr val="F5F7FB"/>
                </a:solidFill>
                <a:latin typeface="Aptos"/>
              </a:defRPr>
            </a:pPr>
            <a:r>
              <a:t>custom_board_derivation.md</a:t>
            </a:r>
          </a:p>
          <a:p>
            <a:pPr>
              <a:spcAft>
                <a:spcPts val="600"/>
              </a:spcAft>
              <a:defRPr sz="1800">
                <a:solidFill>
                  <a:srgbClr val="F5F7FB"/>
                </a:solidFill>
                <a:latin typeface="Aptos"/>
              </a:defRPr>
            </a:pPr>
            <a:r>
              <a:t>Human-readable playbooks for repeatable engineering flows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15727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A778FF"/>
                </a:solidFill>
                <a:latin typeface="Aptos"/>
              </a:rPr>
              <a:t>knowledge/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1901952"/>
            <a:ext cx="27889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5F7FB"/>
                </a:solidFill>
                <a:latin typeface="Aptos"/>
              </a:defRPr>
            </a:pPr>
            <a:r>
              <a:t>nxp_board_inventory.json / .md</a:t>
            </a:r>
          </a:p>
          <a:p>
            <a:pPr>
              <a:spcAft>
                <a:spcPts val="600"/>
              </a:spcAft>
              <a:defRPr sz="1800">
                <a:solidFill>
                  <a:srgbClr val="F5F7FB"/>
                </a:solidFill>
                <a:latin typeface="Aptos"/>
              </a:defRPr>
            </a:pPr>
            <a:r>
              <a:t>nxp_digital_twin_seeds.json</a:t>
            </a:r>
          </a:p>
          <a:p>
            <a:pPr>
              <a:spcAft>
                <a:spcPts val="600"/>
              </a:spcAft>
              <a:defRPr sz="1800">
                <a:solidFill>
                  <a:srgbClr val="F5F7FB"/>
                </a:solidFill>
                <a:latin typeface="Aptos"/>
              </a:defRPr>
            </a:pPr>
            <a:r>
              <a:t>twins/dg_evk.json</a:t>
            </a:r>
          </a:p>
          <a:p>
            <a:pPr>
              <a:spcAft>
                <a:spcPts val="600"/>
              </a:spcAft>
              <a:defRPr sz="1800">
                <a:solidFill>
                  <a:srgbClr val="F5F7FB"/>
                </a:solidFill>
                <a:latin typeface="Aptos"/>
              </a:defRPr>
            </a:pPr>
            <a:r>
              <a:t>custom_boards_index.json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1908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6C2D9"/>
                </a:solidFill>
                <a:latin typeface="Aptos"/>
              </a:rPr>
              <a:t>nxp_digital_twins • 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641908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6C2D9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7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411480"/>
            <a:ext cx="1554480" cy="1554480"/>
          </a:xfrm>
          <a:prstGeom prst="ellipse">
            <a:avLst/>
          </a:prstGeom>
          <a:solidFill>
            <a:srgbClr val="47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1051560"/>
            <a:ext cx="960120" cy="960120"/>
          </a:xfrm>
          <a:prstGeom prst="ellipse">
            <a:avLst/>
          </a:prstGeom>
          <a:solidFill>
            <a:srgbClr val="3DE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11480" y="5349240"/>
            <a:ext cx="1280160" cy="1280160"/>
          </a:xfrm>
          <a:prstGeom prst="ellipse">
            <a:avLst/>
          </a:prstGeom>
          <a:solidFill>
            <a:srgbClr val="A7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384048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B"/>
                </a:solidFill>
                <a:latin typeface="Aptos"/>
              </a:rPr>
              <a:t>From Zephyr board folders to an NXP board landscape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950976"/>
            <a:ext cx="1417320" cy="45720"/>
          </a:xfrm>
          <a:prstGeom prst="rect">
            <a:avLst/>
          </a:prstGeom>
          <a:solidFill>
            <a:srgbClr val="3DE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9808" y="1261872"/>
            <a:ext cx="1828800" cy="1170432"/>
          </a:xfrm>
          <a:prstGeom prst="roundRect">
            <a:avLst/>
          </a:prstGeom>
          <a:solidFill>
            <a:srgbClr val="12192B"/>
          </a:solidFill>
          <a:ln w="12700">
            <a:solidFill>
              <a:srgbClr val="2B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1261872"/>
            <a:ext cx="1828800" cy="73152"/>
          </a:xfrm>
          <a:prstGeom prst="rect">
            <a:avLst/>
          </a:prstGeom>
          <a:solidFill>
            <a:srgbClr val="47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481328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7A3FF"/>
                </a:solidFill>
                <a:latin typeface="Aptos"/>
              </a:rPr>
              <a:t>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1975104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6C2D9"/>
                </a:solidFill>
                <a:latin typeface="Aptos"/>
              </a:rPr>
              <a:t>boards discovered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24912" y="1261872"/>
            <a:ext cx="1828800" cy="1170432"/>
          </a:xfrm>
          <a:prstGeom prst="roundRect">
            <a:avLst/>
          </a:prstGeom>
          <a:solidFill>
            <a:srgbClr val="12192B"/>
          </a:solidFill>
          <a:ln w="12700">
            <a:solidFill>
              <a:srgbClr val="2B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24912" y="1261872"/>
            <a:ext cx="1828800" cy="73152"/>
          </a:xfrm>
          <a:prstGeom prst="rect">
            <a:avLst/>
          </a:prstGeom>
          <a:solidFill>
            <a:srgbClr val="3DE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71216" y="1481328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3DE1D3"/>
                </a:solidFill>
                <a:latin typeface="Aptos"/>
              </a:rPr>
              <a:t>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71216" y="1975104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6C2D9"/>
                </a:solidFill>
                <a:latin typeface="Aptos"/>
              </a:rPr>
              <a:t>seed objects generated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0016" y="1261872"/>
            <a:ext cx="1828800" cy="1170432"/>
          </a:xfrm>
          <a:prstGeom prst="roundRect">
            <a:avLst/>
          </a:prstGeom>
          <a:solidFill>
            <a:srgbClr val="12192B"/>
          </a:solidFill>
          <a:ln w="12700">
            <a:solidFill>
              <a:srgbClr val="2B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00016" y="1261872"/>
            <a:ext cx="1828800" cy="73152"/>
          </a:xfrm>
          <a:prstGeom prst="rect">
            <a:avLst/>
          </a:prstGeom>
          <a:solidFill>
            <a:srgbClr val="A7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1481328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A778FF"/>
                </a:solidFill>
                <a:latin typeface="Aptos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1975104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6C2D9"/>
                </a:solidFill>
                <a:latin typeface="Aptos"/>
              </a:rPr>
              <a:t>families classified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1261872"/>
            <a:ext cx="2011680" cy="1170432"/>
          </a:xfrm>
          <a:prstGeom prst="roundRect">
            <a:avLst/>
          </a:prstGeom>
          <a:solidFill>
            <a:srgbClr val="12192B"/>
          </a:solidFill>
          <a:ln w="12700">
            <a:solidFill>
              <a:srgbClr val="2B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75120" y="1261872"/>
            <a:ext cx="2011680" cy="73152"/>
          </a:xfrm>
          <a:prstGeom prst="rect">
            <a:avLst/>
          </a:prstGeom>
          <a:solidFill>
            <a:srgbClr val="FFA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1424" y="1481328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A03D"/>
                </a:solidFill>
                <a:latin typeface="Aptos"/>
              </a:rPr>
              <a:t>78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21424" y="1975104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6C2D9"/>
                </a:solidFill>
                <a:latin typeface="Aptos"/>
              </a:rPr>
              <a:t>boards with docs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33104" y="1261872"/>
            <a:ext cx="2606040" cy="1170432"/>
          </a:xfrm>
          <a:prstGeom prst="roundRect">
            <a:avLst/>
          </a:prstGeom>
          <a:solidFill>
            <a:srgbClr val="12192B"/>
          </a:solidFill>
          <a:ln w="12700">
            <a:solidFill>
              <a:srgbClr val="2B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33104" y="1261872"/>
            <a:ext cx="2606040" cy="73152"/>
          </a:xfrm>
          <a:prstGeom prst="rect">
            <a:avLst/>
          </a:prstGeom>
          <a:solidFill>
            <a:srgbClr val="FF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79408" y="1481328"/>
            <a:ext cx="2331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5FA5"/>
                </a:solidFill>
                <a:latin typeface="Aptos"/>
              </a:rPr>
              <a:t>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79408" y="1975104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6C2D9"/>
                </a:solidFill>
                <a:latin typeface="Aptos"/>
              </a:rPr>
              <a:t>boards with board.c logic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8096" y="2697480"/>
            <a:ext cx="5349240" cy="2880360"/>
          </a:xfrm>
          <a:prstGeom prst="roundRect">
            <a:avLst/>
          </a:prstGeom>
          <a:solidFill>
            <a:srgbClr val="12192B"/>
          </a:solidFill>
          <a:ln w="12700">
            <a:solidFill>
              <a:srgbClr val="2B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287121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DE1D3"/>
                </a:solidFill>
                <a:latin typeface="Aptos"/>
              </a:rPr>
              <a:t>Top families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3246120"/>
            <a:ext cx="4983480" cy="2011680"/>
          </a:xfrm>
          <a:prstGeom prst="roundRect">
            <a:avLst/>
          </a:prstGeom>
          <a:solidFill>
            <a:srgbClr val="19233B"/>
          </a:solidFill>
          <a:ln w="12700">
            <a:solidFill>
              <a:srgbClr val="2B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8992" y="3355848"/>
            <a:ext cx="46542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E1D3"/>
                </a:solidFill>
                <a:latin typeface="Aptos"/>
              </a:rPr>
              <a:t>board family distribution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3630168"/>
            <a:ext cx="461772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D9E2F2"/>
                </a:solidFill>
                <a:latin typeface="Cascadia Mono"/>
              </a:defRPr>
            </a:pPr>
            <a:r>
              <a:t>MCX           19</a:t>
            </a:r>
          </a:p>
          <a:p>
            <a:pPr>
              <a:spcAft>
                <a:spcPts val="100"/>
              </a:spcAft>
              <a:defRPr sz="1300">
                <a:solidFill>
                  <a:srgbClr val="D9E2F2"/>
                </a:solidFill>
                <a:latin typeface="Cascadia Mono"/>
              </a:defRPr>
            </a:pPr>
            <a:r>
              <a:t>IMX           16</a:t>
            </a:r>
          </a:p>
          <a:p>
            <a:pPr>
              <a:spcAft>
                <a:spcPts val="100"/>
              </a:spcAft>
              <a:defRPr sz="1300">
                <a:solidFill>
                  <a:srgbClr val="D9E2F2"/>
                </a:solidFill>
                <a:latin typeface="Cascadia Mono"/>
              </a:defRPr>
            </a:pPr>
            <a:r>
              <a:t>MIMXRT        16</a:t>
            </a:r>
          </a:p>
          <a:p>
            <a:pPr>
              <a:spcAft>
                <a:spcPts val="100"/>
              </a:spcAft>
              <a:defRPr sz="1300">
                <a:solidFill>
                  <a:srgbClr val="D9E2F2"/>
                </a:solidFill>
                <a:latin typeface="Cascadia Mono"/>
              </a:defRPr>
            </a:pPr>
            <a:r>
              <a:t>OTHER         10</a:t>
            </a:r>
          </a:p>
          <a:p>
            <a:pPr>
              <a:spcAft>
                <a:spcPts val="100"/>
              </a:spcAft>
              <a:defRPr sz="1300">
                <a:solidFill>
                  <a:srgbClr val="D9E2F2"/>
                </a:solidFill>
                <a:latin typeface="Cascadia Mono"/>
              </a:defRPr>
            </a:pPr>
            <a:r>
              <a:t>LPCXPRESSO    8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2697480"/>
            <a:ext cx="5120640" cy="2880360"/>
          </a:xfrm>
          <a:prstGeom prst="roundRect">
            <a:avLst/>
          </a:prstGeom>
          <a:solidFill>
            <a:srgbClr val="12192B"/>
          </a:solidFill>
          <a:ln w="12700">
            <a:solidFill>
              <a:srgbClr val="2B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10528" y="287121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A03D"/>
                </a:solidFill>
                <a:latin typeface="Aptos"/>
              </a:rPr>
              <a:t>Most common capabilities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46520" y="3246120"/>
            <a:ext cx="4709160" cy="2011680"/>
          </a:xfrm>
          <a:prstGeom prst="roundRect">
            <a:avLst/>
          </a:prstGeom>
          <a:solidFill>
            <a:srgbClr val="19233B"/>
          </a:solidFill>
          <a:ln w="12700">
            <a:solidFill>
              <a:srgbClr val="2B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11112" y="3355848"/>
            <a:ext cx="4379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E1D3"/>
                </a:solidFill>
                <a:latin typeface="Aptos"/>
              </a:rPr>
              <a:t>capability frequency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3630168"/>
            <a:ext cx="434340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D9E2F2"/>
                </a:solidFill>
                <a:latin typeface="Cascadia Mono"/>
              </a:defRPr>
            </a:pPr>
            <a:r>
              <a:t>gpio          69</a:t>
            </a:r>
          </a:p>
          <a:p>
            <a:pPr>
              <a:spcAft>
                <a:spcPts val="100"/>
              </a:spcAft>
              <a:defRPr sz="1300">
                <a:solidFill>
                  <a:srgbClr val="D9E2F2"/>
                </a:solidFill>
                <a:latin typeface="Cascadia Mono"/>
              </a:defRPr>
            </a:pPr>
            <a:r>
              <a:t>i2c           64</a:t>
            </a:r>
          </a:p>
          <a:p>
            <a:pPr>
              <a:spcAft>
                <a:spcPts val="100"/>
              </a:spcAft>
              <a:defRPr sz="1300">
                <a:solidFill>
                  <a:srgbClr val="D9E2F2"/>
                </a:solidFill>
                <a:latin typeface="Cascadia Mono"/>
              </a:defRPr>
            </a:pPr>
            <a:r>
              <a:t>spi           55</a:t>
            </a:r>
          </a:p>
          <a:p>
            <a:pPr>
              <a:spcAft>
                <a:spcPts val="100"/>
              </a:spcAft>
              <a:defRPr sz="1300">
                <a:solidFill>
                  <a:srgbClr val="D9E2F2"/>
                </a:solidFill>
                <a:latin typeface="Cascadia Mono"/>
              </a:defRPr>
            </a:pPr>
            <a:r>
              <a:t>flash         55</a:t>
            </a:r>
          </a:p>
          <a:p>
            <a:pPr>
              <a:spcAft>
                <a:spcPts val="100"/>
              </a:spcAft>
              <a:defRPr sz="1300">
                <a:solidFill>
                  <a:srgbClr val="D9E2F2"/>
                </a:solidFill>
                <a:latin typeface="Cascadia Mono"/>
              </a:defRPr>
            </a:pPr>
            <a:r>
              <a:t>counter       54</a:t>
            </a:r>
          </a:p>
          <a:p>
            <a:pPr>
              <a:spcAft>
                <a:spcPts val="100"/>
              </a:spcAft>
              <a:defRPr sz="1300">
                <a:solidFill>
                  <a:srgbClr val="D9E2F2"/>
                </a:solidFill>
                <a:latin typeface="Cascadia Mono"/>
              </a:defRPr>
            </a:pPr>
            <a:r>
              <a:t>watchdog      53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641908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6C2D9"/>
                </a:solidFill>
                <a:latin typeface="Aptos"/>
              </a:rPr>
              <a:t>nxp_digital_twins • inventory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0" y="641908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6C2D9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7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411480"/>
            <a:ext cx="1554480" cy="1554480"/>
          </a:xfrm>
          <a:prstGeom prst="ellipse">
            <a:avLst/>
          </a:prstGeom>
          <a:solidFill>
            <a:srgbClr val="47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1051560"/>
            <a:ext cx="960120" cy="960120"/>
          </a:xfrm>
          <a:prstGeom prst="ellipse">
            <a:avLst/>
          </a:prstGeom>
          <a:solidFill>
            <a:srgbClr val="3DE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11480" y="5349240"/>
            <a:ext cx="1280160" cy="1280160"/>
          </a:xfrm>
          <a:prstGeom prst="ellipse">
            <a:avLst/>
          </a:prstGeom>
          <a:solidFill>
            <a:srgbClr val="A7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384048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B"/>
                </a:solidFill>
                <a:latin typeface="Aptos"/>
              </a:rPr>
              <a:t>The digital twin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950976"/>
            <a:ext cx="1417320" cy="45720"/>
          </a:xfrm>
          <a:prstGeom prst="rect">
            <a:avLst/>
          </a:prstGeom>
          <a:solidFill>
            <a:srgbClr val="3DE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evron 7"/>
          <p:cNvSpPr/>
          <p:nvPr/>
        </p:nvSpPr>
        <p:spPr>
          <a:xfrm>
            <a:off x="640080" y="2148840"/>
            <a:ext cx="1828800" cy="914400"/>
          </a:xfrm>
          <a:prstGeom prst="chevron">
            <a:avLst/>
          </a:prstGeom>
          <a:solidFill>
            <a:srgbClr val="47A3FF"/>
          </a:solidFill>
          <a:ln>
            <a:solidFill>
              <a:srgbClr val="47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5F7FB"/>
                </a:solidFill>
                <a:latin typeface="Aptos"/>
              </a:rPr>
              <a:t>boards/nxp
Zephyr source</a:t>
            </a:r>
          </a:p>
        </p:txBody>
      </p:sp>
      <p:sp>
        <p:nvSpPr>
          <p:cNvPr id="9" name="Chevron 8"/>
          <p:cNvSpPr/>
          <p:nvPr/>
        </p:nvSpPr>
        <p:spPr>
          <a:xfrm>
            <a:off x="2606040" y="2148840"/>
            <a:ext cx="1874519" cy="914400"/>
          </a:xfrm>
          <a:prstGeom prst="chevron">
            <a:avLst/>
          </a:prstGeom>
          <a:solidFill>
            <a:srgbClr val="3DE1D3"/>
          </a:solidFill>
          <a:ln>
            <a:solidFill>
              <a:srgbClr val="3D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5F7FB"/>
                </a:solidFill>
                <a:latin typeface="Aptos"/>
              </a:rPr>
              <a:t>knowledge
generator</a:t>
            </a:r>
          </a:p>
        </p:txBody>
      </p:sp>
      <p:sp>
        <p:nvSpPr>
          <p:cNvPr id="10" name="Chevron 9"/>
          <p:cNvSpPr/>
          <p:nvPr/>
        </p:nvSpPr>
        <p:spPr>
          <a:xfrm>
            <a:off x="4617720" y="2148840"/>
            <a:ext cx="1965960" cy="914400"/>
          </a:xfrm>
          <a:prstGeom prst="chevron">
            <a:avLst/>
          </a:prstGeom>
          <a:solidFill>
            <a:srgbClr val="A778FF"/>
          </a:solidFill>
          <a:ln>
            <a:solidFill>
              <a:srgbClr val="A7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5F7FB"/>
                </a:solidFill>
                <a:latin typeface="Aptos"/>
              </a:rPr>
              <a:t>inventory +
seed models</a:t>
            </a:r>
          </a:p>
        </p:txBody>
      </p:sp>
      <p:sp>
        <p:nvSpPr>
          <p:cNvPr id="11" name="Chevron 10"/>
          <p:cNvSpPr/>
          <p:nvPr/>
        </p:nvSpPr>
        <p:spPr>
          <a:xfrm>
            <a:off x="6720840" y="2148840"/>
            <a:ext cx="1965960" cy="914400"/>
          </a:xfrm>
          <a:prstGeom prst="chevron">
            <a:avLst/>
          </a:prstGeom>
          <a:solidFill>
            <a:srgbClr val="FFA03D"/>
          </a:solidFill>
          <a:ln>
            <a:solidFill>
              <a:srgbClr val="FF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5F7FB"/>
                </a:solidFill>
                <a:latin typeface="Aptos"/>
              </a:rPr>
              <a:t>custom board
derivation</a:t>
            </a:r>
          </a:p>
        </p:txBody>
      </p:sp>
      <p:sp>
        <p:nvSpPr>
          <p:cNvPr id="12" name="Chevron 11"/>
          <p:cNvSpPr/>
          <p:nvPr/>
        </p:nvSpPr>
        <p:spPr>
          <a:xfrm>
            <a:off x="8823960" y="2148840"/>
            <a:ext cx="2057400" cy="914400"/>
          </a:xfrm>
          <a:prstGeom prst="chevron">
            <a:avLst/>
          </a:prstGeom>
          <a:solidFill>
            <a:srgbClr val="FF5FA5"/>
          </a:solidFill>
          <a:ln>
            <a:solidFill>
              <a:srgbClr val="FF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5F7FB"/>
                </a:solidFill>
                <a:latin typeface="Aptos"/>
              </a:rPr>
              <a:t>lab validation
and iteration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94760"/>
            <a:ext cx="10241280" cy="1325880"/>
          </a:xfrm>
          <a:prstGeom prst="roundRect">
            <a:avLst/>
          </a:prstGeom>
          <a:solidFill>
            <a:srgbClr val="12192B"/>
          </a:solidFill>
          <a:ln w="12700">
            <a:solidFill>
              <a:srgbClr val="2B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4078224"/>
            <a:ext cx="9829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5F7FB"/>
                </a:solidFill>
                <a:latin typeface="Aptos"/>
              </a:defRPr>
            </a:pPr>
            <a:r>
              <a:t>One stream converts board metadata into digital twin knowledge; the second stream turns those twins into custom board programs and validation loops.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41908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6C2D9"/>
                </a:solidFill>
                <a:latin typeface="Aptos"/>
              </a:rPr>
              <a:t>nxp_digital_twins •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641908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6C2D9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7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411480"/>
            <a:ext cx="1554480" cy="1554480"/>
          </a:xfrm>
          <a:prstGeom prst="ellipse">
            <a:avLst/>
          </a:prstGeom>
          <a:solidFill>
            <a:srgbClr val="47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1051560"/>
            <a:ext cx="960120" cy="960120"/>
          </a:xfrm>
          <a:prstGeom prst="ellipse">
            <a:avLst/>
          </a:prstGeom>
          <a:solidFill>
            <a:srgbClr val="3DE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11480" y="5349240"/>
            <a:ext cx="1280160" cy="1280160"/>
          </a:xfrm>
          <a:prstGeom prst="ellipse">
            <a:avLst/>
          </a:prstGeom>
          <a:solidFill>
            <a:srgbClr val="A7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384048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B"/>
                </a:solidFill>
                <a:latin typeface="Aptos"/>
              </a:rPr>
              <a:t>Anatomy of a board twin seed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950976"/>
            <a:ext cx="1417320" cy="45720"/>
          </a:xfrm>
          <a:prstGeom prst="rect">
            <a:avLst/>
          </a:prstGeom>
          <a:solidFill>
            <a:srgbClr val="3DE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5120640" cy="5074920"/>
          </a:xfrm>
          <a:prstGeom prst="roundRect">
            <a:avLst/>
          </a:prstGeom>
          <a:solidFill>
            <a:srgbClr val="12192B"/>
          </a:solidFill>
          <a:ln w="12700">
            <a:solidFill>
              <a:srgbClr val="2B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2704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DE1D3"/>
                </a:solidFill>
                <a:latin typeface="Aptos"/>
              </a:rPr>
              <a:t>Example base twin: mimxrt1170_evk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20240"/>
            <a:ext cx="4526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5F7FB"/>
                </a:solidFill>
                <a:latin typeface="Aptos"/>
              </a:defRPr>
            </a:pPr>
            <a:r>
              <a:t>Twin id: nxp.mimxrt1170_evk</a:t>
            </a:r>
          </a:p>
          <a:p>
            <a:pPr>
              <a:spcAft>
                <a:spcPts val="600"/>
              </a:spcAft>
              <a:defRPr sz="1700">
                <a:solidFill>
                  <a:srgbClr val="F5F7FB"/>
                </a:solidFill>
                <a:latin typeface="Aptos"/>
              </a:defRPr>
            </a:pPr>
            <a:r>
              <a:t>Family: mimxrt</a:t>
            </a:r>
          </a:p>
          <a:p>
            <a:pPr>
              <a:spcAft>
                <a:spcPts val="600"/>
              </a:spcAft>
              <a:defRPr sz="1700">
                <a:solidFill>
                  <a:srgbClr val="F5F7FB"/>
                </a:solidFill>
                <a:latin typeface="Aptos"/>
              </a:defRPr>
            </a:pPr>
            <a:r>
              <a:t>Architectures: arm</a:t>
            </a:r>
          </a:p>
          <a:p>
            <a:pPr>
              <a:spcAft>
                <a:spcPts val="600"/>
              </a:spcAft>
              <a:defRPr sz="1700">
                <a:solidFill>
                  <a:srgbClr val="F5F7FB"/>
                </a:solidFill>
                <a:latin typeface="Aptos"/>
              </a:defRPr>
            </a:pPr>
            <a:r>
              <a:t>Targets: 4</a:t>
            </a:r>
          </a:p>
          <a:p>
            <a:pPr>
              <a:spcAft>
                <a:spcPts val="600"/>
              </a:spcAft>
              <a:defRPr sz="1700">
                <a:solidFill>
                  <a:srgbClr val="F5F7FB"/>
                </a:solidFill>
                <a:latin typeface="Aptos"/>
              </a:defRPr>
            </a:pPr>
            <a:r>
              <a:t>Capabilities include: adc, can, counter, dac, display, dma...</a:t>
            </a:r>
          </a:p>
          <a:p>
            <a:pPr>
              <a:spcAft>
                <a:spcPts val="600"/>
              </a:spcAft>
              <a:defRPr sz="1700">
                <a:solidFill>
                  <a:srgbClr val="F5F7FB"/>
                </a:solidFill>
                <a:latin typeface="Aptos"/>
              </a:defRPr>
            </a:pPr>
            <a:r>
              <a:t>Development section carries toolchain and board source path</a:t>
            </a:r>
          </a:p>
          <a:p>
            <a:pPr>
              <a:spcAft>
                <a:spcPts val="600"/>
              </a:spcAft>
              <a:defRPr sz="1700">
                <a:solidFill>
                  <a:srgbClr val="F5F7FB"/>
                </a:solidFill>
                <a:latin typeface="Aptos"/>
              </a:defRPr>
            </a:pPr>
            <a:r>
              <a:t>Lab profile can attach real flash and remote execution details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53312"/>
            <a:ext cx="5212080" cy="4892040"/>
          </a:xfrm>
          <a:prstGeom prst="roundRect">
            <a:avLst/>
          </a:prstGeom>
          <a:solidFill>
            <a:srgbClr val="19233B"/>
          </a:solidFill>
          <a:ln w="12700">
            <a:solidFill>
              <a:srgbClr val="2B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1463040"/>
            <a:ext cx="4882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E1D3"/>
                </a:solidFill>
                <a:latin typeface="Aptos"/>
              </a:rPr>
              <a:t>seed shape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737360"/>
            <a:ext cx="4846320" cy="4416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D9E2F2"/>
                </a:solidFill>
                <a:latin typeface="Cascadia Mono"/>
              </a:defRPr>
            </a:pPr>
            <a:r>
              <a:t>{</a:t>
            </a:r>
          </a:p>
          <a:p>
            <a:pPr>
              <a:spcAft>
                <a:spcPts val="100"/>
              </a:spcAft>
              <a:defRPr sz="1300">
                <a:solidFill>
                  <a:srgbClr val="D9E2F2"/>
                </a:solidFill>
                <a:latin typeface="Cascadia Mono"/>
              </a:defRPr>
            </a:pPr>
            <a:r>
              <a:t>  "twin_id": "nxp.mimxrt1170_evk",</a:t>
            </a:r>
          </a:p>
          <a:p>
            <a:pPr>
              <a:spcAft>
                <a:spcPts val="100"/>
              </a:spcAft>
              <a:defRPr sz="1300">
                <a:solidFill>
                  <a:srgbClr val="D9E2F2"/>
                </a:solidFill>
                <a:latin typeface="Cascadia Mono"/>
              </a:defRPr>
            </a:pPr>
            <a:r>
              <a:t>  "classification": {"family": "mimxrt"},</a:t>
            </a:r>
          </a:p>
          <a:p>
            <a:pPr>
              <a:spcAft>
                <a:spcPts val="100"/>
              </a:spcAft>
              <a:defRPr sz="1300">
                <a:solidFill>
                  <a:srgbClr val="D9E2F2"/>
                </a:solidFill>
                <a:latin typeface="Cascadia Mono"/>
              </a:defRPr>
            </a:pPr>
            <a:r>
              <a:t>  "hardware": {</a:t>
            </a:r>
          </a:p>
          <a:p>
            <a:pPr>
              <a:spcAft>
                <a:spcPts val="100"/>
              </a:spcAft>
              <a:defRPr sz="1300">
                <a:solidFill>
                  <a:srgbClr val="D9E2F2"/>
                </a:solidFill>
                <a:latin typeface="Cascadia Mono"/>
              </a:defRPr>
            </a:pPr>
            <a:r>
              <a:t>    "socs": ["mimxrt1176"],</a:t>
            </a:r>
          </a:p>
          <a:p>
            <a:pPr>
              <a:spcAft>
                <a:spcPts val="100"/>
              </a:spcAft>
              <a:defRPr sz="1300">
                <a:solidFill>
                  <a:srgbClr val="D9E2F2"/>
                </a:solidFill>
                <a:latin typeface="Cascadia Mono"/>
              </a:defRPr>
            </a:pPr>
            <a:r>
              <a:t>    "targets": [".../cm4", ".../cm7"]</a:t>
            </a:r>
          </a:p>
          <a:p>
            <a:pPr>
              <a:spcAft>
                <a:spcPts val="100"/>
              </a:spcAft>
              <a:defRPr sz="1300">
                <a:solidFill>
                  <a:srgbClr val="D9E2F2"/>
                </a:solidFill>
                <a:latin typeface="Cascadia Mono"/>
              </a:defRPr>
            </a:pPr>
            <a:r>
              <a:t>  },</a:t>
            </a:r>
          </a:p>
          <a:p>
            <a:pPr>
              <a:spcAft>
                <a:spcPts val="100"/>
              </a:spcAft>
              <a:defRPr sz="1300">
                <a:solidFill>
                  <a:srgbClr val="D9E2F2"/>
                </a:solidFill>
                <a:latin typeface="Cascadia Mono"/>
              </a:defRPr>
            </a:pPr>
            <a:r>
              <a:t>  "capabilities": ["adc", "can", "netif:eth", "video", ...],</a:t>
            </a:r>
          </a:p>
          <a:p>
            <a:pPr>
              <a:spcAft>
                <a:spcPts val="100"/>
              </a:spcAft>
              <a:defRPr sz="1300">
                <a:solidFill>
                  <a:srgbClr val="D9E2F2"/>
                </a:solidFill>
                <a:latin typeface="Cascadia Mono"/>
              </a:defRPr>
            </a:pPr>
            <a:r>
              <a:t>  "development": {"toolchains": ["zephyr", "gnuarmemb"]},</a:t>
            </a:r>
          </a:p>
          <a:p>
            <a:pPr>
              <a:spcAft>
                <a:spcPts val="100"/>
              </a:spcAft>
              <a:defRPr sz="1300">
                <a:solidFill>
                  <a:srgbClr val="D9E2F2"/>
                </a:solidFill>
                <a:latin typeface="Cascadia Mono"/>
              </a:defRPr>
            </a:pPr>
            <a:r>
              <a:t>  "lab_profile": {...}</a:t>
            </a:r>
          </a:p>
          <a:p>
            <a:pPr>
              <a:spcAft>
                <a:spcPts val="100"/>
              </a:spcAft>
              <a:defRPr sz="1300">
                <a:solidFill>
                  <a:srgbClr val="D9E2F2"/>
                </a:solidFill>
                <a:latin typeface="Cascadia Mono"/>
              </a:defRPr>
            </a:pPr>
            <a: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1908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6C2D9"/>
                </a:solidFill>
                <a:latin typeface="Aptos"/>
              </a:rPr>
              <a:t>nxp_digital_twins • seed anatomy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641908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6C2D9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7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411480"/>
            <a:ext cx="1554480" cy="1554480"/>
          </a:xfrm>
          <a:prstGeom prst="ellipse">
            <a:avLst/>
          </a:prstGeom>
          <a:solidFill>
            <a:srgbClr val="47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1051560"/>
            <a:ext cx="960120" cy="960120"/>
          </a:xfrm>
          <a:prstGeom prst="ellipse">
            <a:avLst/>
          </a:prstGeom>
          <a:solidFill>
            <a:srgbClr val="3DE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11480" y="5349240"/>
            <a:ext cx="1280160" cy="1280160"/>
          </a:xfrm>
          <a:prstGeom prst="ellipse">
            <a:avLst/>
          </a:prstGeom>
          <a:solidFill>
            <a:srgbClr val="A7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384048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B"/>
                </a:solidFill>
                <a:latin typeface="Aptos"/>
              </a:rPr>
              <a:t>Custom board derivation: from mimxrt1170_evk to dg_evk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950976"/>
            <a:ext cx="1417320" cy="45720"/>
          </a:xfrm>
          <a:prstGeom prst="rect">
            <a:avLst/>
          </a:prstGeom>
          <a:solidFill>
            <a:srgbClr val="3DE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3383280" cy="4526280"/>
          </a:xfrm>
          <a:prstGeom prst="roundRect">
            <a:avLst/>
          </a:prstGeom>
          <a:solidFill>
            <a:srgbClr val="12192B"/>
          </a:solidFill>
          <a:ln w="12700">
            <a:solidFill>
              <a:srgbClr val="2B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07408" y="1325880"/>
            <a:ext cx="3383280" cy="4526280"/>
          </a:xfrm>
          <a:prstGeom prst="roundRect">
            <a:avLst/>
          </a:prstGeom>
          <a:solidFill>
            <a:srgbClr val="12192B"/>
          </a:solidFill>
          <a:ln w="12700">
            <a:solidFill>
              <a:srgbClr val="2B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83296" y="1325880"/>
            <a:ext cx="3383280" cy="4526280"/>
          </a:xfrm>
          <a:prstGeom prst="roundRect">
            <a:avLst/>
          </a:prstGeom>
          <a:solidFill>
            <a:srgbClr val="12192B"/>
          </a:solidFill>
          <a:ln w="12700">
            <a:solidFill>
              <a:srgbClr val="2B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5727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7A3FF"/>
                </a:solidFill>
                <a:latin typeface="Aptos"/>
              </a:rPr>
              <a:t>Base 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1920240"/>
            <a:ext cx="2743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5F7FB"/>
                </a:solidFill>
                <a:latin typeface="Aptos"/>
              </a:defRPr>
            </a:pPr>
            <a:r>
              <a:t>Zephyr reference: mimxrt1170_evk</a:t>
            </a:r>
          </a:p>
          <a:p>
            <a:pPr>
              <a:spcAft>
                <a:spcPts val="600"/>
              </a:spcAft>
              <a:defRPr sz="1700">
                <a:solidFill>
                  <a:srgbClr val="F5F7FB"/>
                </a:solidFill>
                <a:latin typeface="Aptos"/>
              </a:defRPr>
            </a:pPr>
            <a:r>
              <a:t>Twin seed already contains targets, capabilities, and lab profile</a:t>
            </a:r>
          </a:p>
          <a:p>
            <a:pPr>
              <a:spcAft>
                <a:spcPts val="600"/>
              </a:spcAft>
              <a:defRPr sz="1700">
                <a:solidFill>
                  <a:srgbClr val="F5F7FB"/>
                </a:solidFill>
                <a:latin typeface="Aptos"/>
              </a:defRPr>
            </a:pPr>
            <a:r>
              <a:t>Used as the inheritance anchor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15727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DE1D3"/>
                </a:solidFill>
                <a:latin typeface="Aptos"/>
              </a:rPr>
              <a:t>Derived twin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1920240"/>
            <a:ext cx="2743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5F7FB"/>
                </a:solidFill>
                <a:latin typeface="Aptos"/>
              </a:defRPr>
            </a:pPr>
            <a:r>
              <a:t>New board name: dg_evk</a:t>
            </a:r>
          </a:p>
          <a:p>
            <a:pPr>
              <a:spcAft>
                <a:spcPts val="600"/>
              </a:spcAft>
              <a:defRPr sz="1700">
                <a:solidFill>
                  <a:srgbClr val="F5F7FB"/>
                </a:solidFill>
                <a:latin typeface="Aptos"/>
              </a:defRPr>
            </a:pPr>
            <a:r>
              <a:t>Twin id: nxp.dg_evk</a:t>
            </a:r>
          </a:p>
          <a:p>
            <a:pPr>
              <a:spcAft>
                <a:spcPts val="600"/>
              </a:spcAft>
              <a:defRPr sz="1700">
                <a:solidFill>
                  <a:srgbClr val="F5F7FB"/>
                </a:solidFill>
                <a:latin typeface="Aptos"/>
              </a:defRPr>
            </a:pPr>
            <a:r>
              <a:t>Target identifiers rewritten to dg_evk/*</a:t>
            </a:r>
          </a:p>
          <a:p>
            <a:pPr>
              <a:spcAft>
                <a:spcPts val="600"/>
              </a:spcAft>
              <a:defRPr sz="1700">
                <a:solidFill>
                  <a:srgbClr val="F5F7FB"/>
                </a:solidFill>
                <a:latin typeface="Aptos"/>
              </a:defRPr>
            </a:pPr>
            <a:r>
              <a:t>Derivation metadata preserved for traceability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15727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A03D"/>
                </a:solidFill>
                <a:latin typeface="Aptos"/>
              </a:rPr>
              <a:t>Generated board scaffold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4" y="1920240"/>
            <a:ext cx="2743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5F7FB"/>
                </a:solidFill>
                <a:latin typeface="Aptos"/>
              </a:defRPr>
            </a:pPr>
            <a:r>
              <a:t>boards/nxp/dg_evk created from mimxrt1170_evk</a:t>
            </a:r>
          </a:p>
          <a:p>
            <a:pPr>
              <a:spcAft>
                <a:spcPts val="600"/>
              </a:spcAft>
              <a:defRPr sz="1700">
                <a:solidFill>
                  <a:srgbClr val="F5F7FB"/>
                </a:solidFill>
                <a:latin typeface="Aptos"/>
              </a:defRPr>
            </a:pPr>
            <a:r>
              <a:t>Kconfig, board.yml, DTS, YAML, docs renamed</a:t>
            </a:r>
          </a:p>
          <a:p>
            <a:pPr>
              <a:spcAft>
                <a:spcPts val="600"/>
              </a:spcAft>
              <a:defRPr sz="1700">
                <a:solidFill>
                  <a:srgbClr val="F5F7FB"/>
                </a:solidFill>
                <a:latin typeface="Aptos"/>
              </a:defRPr>
            </a:pPr>
            <a:r>
              <a:t>Ready for real hardware delta edits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1908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6C2D9"/>
                </a:solidFill>
                <a:latin typeface="Aptos"/>
              </a:rPr>
              <a:t>nxp_digital_twins • custom 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641908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6C2D9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7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411480"/>
            <a:ext cx="1554480" cy="1554480"/>
          </a:xfrm>
          <a:prstGeom prst="ellipse">
            <a:avLst/>
          </a:prstGeom>
          <a:solidFill>
            <a:srgbClr val="47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1051560"/>
            <a:ext cx="960120" cy="960120"/>
          </a:xfrm>
          <a:prstGeom prst="ellipse">
            <a:avLst/>
          </a:prstGeom>
          <a:solidFill>
            <a:srgbClr val="3DE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11480" y="5349240"/>
            <a:ext cx="1280160" cy="1280160"/>
          </a:xfrm>
          <a:prstGeom prst="ellipse">
            <a:avLst/>
          </a:prstGeom>
          <a:solidFill>
            <a:srgbClr val="A7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384048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B"/>
                </a:solidFill>
                <a:latin typeface="Aptos"/>
              </a:rPr>
              <a:t>How teams use it day to 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950976"/>
            <a:ext cx="1417320" cy="45720"/>
          </a:xfrm>
          <a:prstGeom prst="rect">
            <a:avLst/>
          </a:prstGeom>
          <a:solidFill>
            <a:srgbClr val="3DE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325880"/>
            <a:ext cx="10972800" cy="1170432"/>
          </a:xfrm>
          <a:prstGeom prst="roundRect">
            <a:avLst/>
          </a:prstGeom>
          <a:solidFill>
            <a:srgbClr val="19233B"/>
          </a:solidFill>
          <a:ln w="12700">
            <a:solidFill>
              <a:srgbClr val="2B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435607"/>
            <a:ext cx="10643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E1D3"/>
                </a:solidFill>
                <a:latin typeface="Aptos"/>
              </a:rPr>
              <a:t>1) refresh the knowledge 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709928"/>
            <a:ext cx="106070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D9E2F2"/>
                </a:solidFill>
                <a:latin typeface="Cascadia Mono"/>
              </a:defRPr>
            </a:pPr>
            <a:r>
              <a:t>python digital_twins_nxp\tools\generate_nxp_board_knowledge.py --source C:\github\zephyrproject\zephyr\boards\nxp --outdir C:\github\zephyr_mcp\digital_twins_nxp\knowledge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697480"/>
            <a:ext cx="10972800" cy="1353312"/>
          </a:xfrm>
          <a:prstGeom prst="roundRect">
            <a:avLst/>
          </a:prstGeom>
          <a:solidFill>
            <a:srgbClr val="19233B"/>
          </a:solidFill>
          <a:ln w="12700">
            <a:solidFill>
              <a:srgbClr val="2B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807208"/>
            <a:ext cx="10643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E1D3"/>
                </a:solidFill>
                <a:latin typeface="Aptos"/>
              </a:rPr>
              <a:t>2) derive a custom board twin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81528"/>
            <a:ext cx="1060704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D9E2F2"/>
                </a:solidFill>
                <a:latin typeface="Cascadia Mono"/>
              </a:defRPr>
            </a:pPr>
            <a:r>
              <a:t>python digital_twins_nxp\tools\create_custom_board.py --seeds digital_twins_nxp\knowledge\nxp_digital_twin_seeds.json --base-board mimxrt1170_evk --new-board dg_evk --spec digital_twins_nxp\knowledge\dg_evk_spec.json --out digital_twins_nxp\knowledge\twins\dg_evk.json --index digital_twins_nxp\knowledge\custom_boards_index.json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279392"/>
            <a:ext cx="10972800" cy="1353312"/>
          </a:xfrm>
          <a:prstGeom prst="roundRect">
            <a:avLst/>
          </a:prstGeom>
          <a:solidFill>
            <a:srgbClr val="19233B"/>
          </a:solidFill>
          <a:ln w="12700">
            <a:solidFill>
              <a:srgbClr val="2B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4389120"/>
            <a:ext cx="10643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E1D3"/>
                </a:solidFill>
                <a:latin typeface="Aptos"/>
              </a:rPr>
              <a:t>3) generate the Zephyr board scaffold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663440"/>
            <a:ext cx="1060704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D9E2F2"/>
                </a:solidFill>
                <a:latin typeface="Cascadia Mono"/>
              </a:defRPr>
            </a:pPr>
            <a:r>
              <a:t>python digital_twins_nxp\tools\create_zephyr_custom_board.py --source-dir C:\github\zephyrproject\zephyr\boards\nxp\mimxrt1170_evk --dest-dir C:\github\zephyrproject\zephyr\boards\nxp\dg_evk --base-board mimxrt1170_evk --new-board dg_evk --new-display-name DG-EVK --force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1908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6C2D9"/>
                </a:solidFill>
                <a:latin typeface="Aptos"/>
              </a:rPr>
              <a:t>nxp_digital_twins • usage commands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641908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6C2D9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7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411480"/>
            <a:ext cx="1554480" cy="1554480"/>
          </a:xfrm>
          <a:prstGeom prst="ellipse">
            <a:avLst/>
          </a:prstGeom>
          <a:solidFill>
            <a:srgbClr val="47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1051560"/>
            <a:ext cx="960120" cy="960120"/>
          </a:xfrm>
          <a:prstGeom prst="ellipse">
            <a:avLst/>
          </a:prstGeom>
          <a:solidFill>
            <a:srgbClr val="3DE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11480" y="5349240"/>
            <a:ext cx="1280160" cy="1280160"/>
          </a:xfrm>
          <a:prstGeom prst="ellipse">
            <a:avLst/>
          </a:prstGeom>
          <a:solidFill>
            <a:srgbClr val="A7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384048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B"/>
                </a:solidFill>
                <a:latin typeface="Aptos"/>
              </a:rPr>
              <a:t>Closed-loop validation with the real lab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950976"/>
            <a:ext cx="1417320" cy="45720"/>
          </a:xfrm>
          <a:prstGeom prst="rect">
            <a:avLst/>
          </a:prstGeom>
          <a:solidFill>
            <a:srgbClr val="3DE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5029200" cy="4526280"/>
          </a:xfrm>
          <a:prstGeom prst="roundRect">
            <a:avLst/>
          </a:prstGeom>
          <a:solidFill>
            <a:srgbClr val="12192B"/>
          </a:solidFill>
          <a:ln w="12700">
            <a:solidFill>
              <a:srgbClr val="2B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89320" y="1325880"/>
            <a:ext cx="5440680" cy="4526280"/>
          </a:xfrm>
          <a:prstGeom prst="roundRect">
            <a:avLst/>
          </a:prstGeom>
          <a:solidFill>
            <a:srgbClr val="12192B"/>
          </a:solidFill>
          <a:ln w="12700">
            <a:solidFill>
              <a:srgbClr val="2B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57276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DE1D3"/>
                </a:solidFill>
                <a:latin typeface="Aptos"/>
              </a:rPr>
              <a:t>Embedded in the twin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938528"/>
            <a:ext cx="4434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5F7FB"/>
                </a:solidFill>
                <a:latin typeface="Aptos"/>
              </a:defRPr>
            </a:pPr>
            <a:r>
              <a:t>SSH host: ubuntu@10.17.12.234</a:t>
            </a:r>
          </a:p>
          <a:p>
            <a:pPr>
              <a:spcAft>
                <a:spcPts val="600"/>
              </a:spcAft>
              <a:defRPr sz="1500">
                <a:solidFill>
                  <a:srgbClr val="F5F7FB"/>
                </a:solidFill>
                <a:latin typeface="Aptos"/>
              </a:defRPr>
            </a:pPr>
            <a:r>
              <a:t>Remote Zephyr path: /home/shared/disk/zephyr_project/zephyr_test/zephyr</a:t>
            </a:r>
          </a:p>
          <a:p>
            <a:pPr>
              <a:spcAft>
                <a:spcPts val="600"/>
              </a:spcAft>
              <a:defRPr sz="1500">
                <a:solidFill>
                  <a:srgbClr val="F5F7FB"/>
                </a:solidFill>
                <a:latin typeface="Aptos"/>
              </a:defRPr>
            </a:pPr>
            <a:r>
              <a:t>Serial path: /dev/serial/by-id/usb-NXP_Semiconductors_MCU-LINK_on-board__r0E2__CMSIS-DAP_V2.250_CMYBV2XFSPLRA-if02</a:t>
            </a:r>
          </a:p>
          <a:p>
            <a:pPr>
              <a:spcAft>
                <a:spcPts val="600"/>
              </a:spcAft>
              <a:defRPr sz="1500">
                <a:solidFill>
                  <a:srgbClr val="F5F7FB"/>
                </a:solidFill>
                <a:latin typeface="Aptos"/>
              </a:defRPr>
            </a:pPr>
            <a:r>
              <a:t>Flash command: west flash --runner linkserver --probe "CMYBV2XFSPLRA"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645920"/>
            <a:ext cx="5029200" cy="3840480"/>
          </a:xfrm>
          <a:prstGeom prst="roundRect">
            <a:avLst/>
          </a:prstGeom>
          <a:solidFill>
            <a:srgbClr val="19233B"/>
          </a:solidFill>
          <a:ln w="12700">
            <a:solidFill>
              <a:srgbClr val="2B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1755648"/>
            <a:ext cx="4700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E1D3"/>
                </a:solidFill>
                <a:latin typeface="Aptos"/>
              </a:rPr>
              <a:t>example validation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029968"/>
            <a:ext cx="466344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D9E2F2"/>
                </a:solidFill>
                <a:latin typeface="Cascadia Mono"/>
              </a:defRPr>
            </a:pPr>
            <a:r>
              <a:t>ssh ubuntu@10.17.12.234</a:t>
            </a:r>
          </a:p>
          <a:p>
            <a:pPr>
              <a:spcAft>
                <a:spcPts val="100"/>
              </a:spcAft>
              <a:defRPr sz="1300">
                <a:solidFill>
                  <a:srgbClr val="D9E2F2"/>
                </a:solidFill>
                <a:latin typeface="Cascadia Mono"/>
              </a:defRPr>
            </a:pPr>
            <a:r>
              <a:t>cd /home/shared/disk/zephyr_project/zephyr_test/zephyr</a:t>
            </a:r>
          </a:p>
          <a:p>
            <a:pPr>
              <a:spcAft>
                <a:spcPts val="100"/>
              </a:spcAft>
              <a:defRPr sz="1300">
                <a:solidFill>
                  <a:srgbClr val="D9E2F2"/>
                </a:solidFill>
                <a:latin typeface="Cascadia Mono"/>
              </a:defRPr>
            </a:pPr>
            <a:r>
              <a:t>west build -b mimxrt1170_evk/mimxrt1176/cm7 samples/hello_world</a:t>
            </a:r>
          </a:p>
          <a:p>
            <a:pPr>
              <a:spcAft>
                <a:spcPts val="100"/>
              </a:spcAft>
              <a:defRPr sz="1300">
                <a:solidFill>
                  <a:srgbClr val="D9E2F2"/>
                </a:solidFill>
                <a:latin typeface="Cascadia Mono"/>
              </a:defRPr>
            </a:pPr>
            <a:r>
              <a:t>west flash --runner linkserver --probe "CMYBV2XFSPLRA"</a:t>
            </a:r>
          </a:p>
          <a:p>
            <a:pPr>
              <a:spcAft>
                <a:spcPts val="100"/>
              </a:spcAft>
              <a:defRPr sz="1300">
                <a:solidFill>
                  <a:srgbClr val="D9E2F2"/>
                </a:solidFill>
                <a:latin typeface="Cascadia Mono"/>
              </a:defRPr>
            </a:pPr>
            <a:r>
              <a:t># observe serial and compare with twin expectations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41908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6C2D9"/>
                </a:solidFill>
                <a:latin typeface="Aptos"/>
              </a:rPr>
              <a:t>nxp_digital_twins • lab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641908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6C2D9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7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411480"/>
            <a:ext cx="1554480" cy="1554480"/>
          </a:xfrm>
          <a:prstGeom prst="ellipse">
            <a:avLst/>
          </a:prstGeom>
          <a:solidFill>
            <a:srgbClr val="47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1051560"/>
            <a:ext cx="960120" cy="960120"/>
          </a:xfrm>
          <a:prstGeom prst="ellipse">
            <a:avLst/>
          </a:prstGeom>
          <a:solidFill>
            <a:srgbClr val="3DE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11480" y="5349240"/>
            <a:ext cx="1280160" cy="1280160"/>
          </a:xfrm>
          <a:prstGeom prst="ellipse">
            <a:avLst/>
          </a:prstGeom>
          <a:solidFill>
            <a:srgbClr val="A7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384048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B"/>
                </a:solidFill>
                <a:latin typeface="Aptos"/>
              </a:rPr>
              <a:t>High-value usage scenarios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950976"/>
            <a:ext cx="1417320" cy="45720"/>
          </a:xfrm>
          <a:prstGeom prst="rect">
            <a:avLst/>
          </a:prstGeom>
          <a:solidFill>
            <a:srgbClr val="3DE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2148840" cy="3886200"/>
          </a:xfrm>
          <a:prstGeom prst="roundRect">
            <a:avLst/>
          </a:prstGeom>
          <a:solidFill>
            <a:srgbClr val="12192B"/>
          </a:solidFill>
          <a:ln w="12700">
            <a:solidFill>
              <a:srgbClr val="2B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74519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7A3FF"/>
                </a:solidFill>
                <a:latin typeface="Aptos"/>
              </a:rPr>
              <a:t>Board selection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377440"/>
            <a:ext cx="1783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5F7FB"/>
                </a:solidFill>
                <a:latin typeface="Aptos"/>
              </a:defRPr>
            </a:pPr>
            <a:r>
              <a:t>Find boards by capability</a:t>
            </a:r>
          </a:p>
          <a:p>
            <a:pPr>
              <a:spcAft>
                <a:spcPts val="600"/>
              </a:spcAft>
              <a:defRPr sz="1600">
                <a:solidFill>
                  <a:srgbClr val="F5F7FB"/>
                </a:solidFill>
                <a:latin typeface="Aptos"/>
              </a:defRPr>
            </a:pPr>
            <a:r>
              <a:t>Compare families and targets</a:t>
            </a:r>
          </a:p>
          <a:p>
            <a:pPr>
              <a:spcAft>
                <a:spcPts val="600"/>
              </a:spcAft>
              <a:defRPr sz="1600">
                <a:solidFill>
                  <a:srgbClr val="F5F7FB"/>
                </a:solidFill>
                <a:latin typeface="Aptos"/>
              </a:defRPr>
            </a:pPr>
            <a:r>
              <a:t>Start the right twin fast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1600200"/>
            <a:ext cx="2148840" cy="3886200"/>
          </a:xfrm>
          <a:prstGeom prst="roundRect">
            <a:avLst/>
          </a:prstGeom>
          <a:solidFill>
            <a:srgbClr val="12192B"/>
          </a:solidFill>
          <a:ln w="12700">
            <a:solidFill>
              <a:srgbClr val="2B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58184" y="1874519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DE1D3"/>
                </a:solidFill>
                <a:latin typeface="Aptos"/>
              </a:rPr>
              <a:t>Bring-up planning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58184" y="2377440"/>
            <a:ext cx="1783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5F7FB"/>
                </a:solidFill>
                <a:latin typeface="Aptos"/>
              </a:defRPr>
            </a:pPr>
            <a:r>
              <a:t>See variants and support files</a:t>
            </a:r>
          </a:p>
          <a:p>
            <a:pPr>
              <a:spcAft>
                <a:spcPts val="600"/>
              </a:spcAft>
              <a:defRPr sz="1600">
                <a:solidFill>
                  <a:srgbClr val="F5F7FB"/>
                </a:solidFill>
                <a:latin typeface="Aptos"/>
              </a:defRPr>
            </a:pPr>
            <a:r>
              <a:t>Identify initialization hotspots</a:t>
            </a:r>
          </a:p>
          <a:p>
            <a:pPr>
              <a:spcAft>
                <a:spcPts val="600"/>
              </a:spcAft>
              <a:defRPr sz="1600">
                <a:solidFill>
                  <a:srgbClr val="F5F7FB"/>
                </a:solidFill>
                <a:latin typeface="Aptos"/>
              </a:defRPr>
            </a:pPr>
            <a:r>
              <a:t>Plan validation loops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1600200"/>
            <a:ext cx="2148840" cy="3886200"/>
          </a:xfrm>
          <a:prstGeom prst="roundRect">
            <a:avLst/>
          </a:prstGeom>
          <a:solidFill>
            <a:srgbClr val="12192B"/>
          </a:solidFill>
          <a:ln w="12700">
            <a:solidFill>
              <a:srgbClr val="2B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38544" y="1874519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A778FF"/>
                </a:solidFill>
                <a:latin typeface="Aptos"/>
              </a:rPr>
              <a:t>Custom hardware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38544" y="2377440"/>
            <a:ext cx="1783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5F7FB"/>
                </a:solidFill>
                <a:latin typeface="Aptos"/>
              </a:defRPr>
            </a:pPr>
            <a:r>
              <a:t>Clone from a strong base</a:t>
            </a:r>
          </a:p>
          <a:p>
            <a:pPr>
              <a:spcAft>
                <a:spcPts val="600"/>
              </a:spcAft>
              <a:defRPr sz="1600">
                <a:solidFill>
                  <a:srgbClr val="F5F7FB"/>
                </a:solidFill>
                <a:latin typeface="Aptos"/>
              </a:defRPr>
            </a:pPr>
            <a:r>
              <a:t>Track derivation decisions</a:t>
            </a:r>
          </a:p>
          <a:p>
            <a:pPr>
              <a:spcAft>
                <a:spcPts val="600"/>
              </a:spcAft>
              <a:defRPr sz="1600">
                <a:solidFill>
                  <a:srgbClr val="F5F7FB"/>
                </a:solidFill>
                <a:latin typeface="Aptos"/>
              </a:defRPr>
            </a:pPr>
            <a:r>
              <a:t>Keep twin and board in sync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1600200"/>
            <a:ext cx="2148840" cy="3886200"/>
          </a:xfrm>
          <a:prstGeom prst="roundRect">
            <a:avLst/>
          </a:prstGeom>
          <a:solidFill>
            <a:srgbClr val="12192B"/>
          </a:solidFill>
          <a:ln w="12700">
            <a:solidFill>
              <a:srgbClr val="2B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18904" y="1874519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A03D"/>
                </a:solidFill>
                <a:latin typeface="Aptos"/>
              </a:rPr>
              <a:t>Lab operations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18904" y="2377440"/>
            <a:ext cx="1783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5F7FB"/>
                </a:solidFill>
                <a:latin typeface="Aptos"/>
              </a:defRPr>
            </a:pPr>
            <a:r>
              <a:t>Reuse flash commands</a:t>
            </a:r>
          </a:p>
          <a:p>
            <a:pPr>
              <a:spcAft>
                <a:spcPts val="600"/>
              </a:spcAft>
              <a:defRPr sz="1600">
                <a:solidFill>
                  <a:srgbClr val="F5F7FB"/>
                </a:solidFill>
                <a:latin typeface="Aptos"/>
              </a:defRPr>
            </a:pPr>
            <a:r>
              <a:t>Attach remote host context</a:t>
            </a:r>
          </a:p>
          <a:p>
            <a:pPr>
              <a:spcAft>
                <a:spcPts val="600"/>
              </a:spcAft>
              <a:defRPr sz="1600">
                <a:solidFill>
                  <a:srgbClr val="F5F7FB"/>
                </a:solidFill>
                <a:latin typeface="Aptos"/>
              </a:defRPr>
            </a:pPr>
            <a:r>
              <a:t>Close the loop with hardware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41908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6C2D9"/>
                </a:solidFill>
                <a:latin typeface="Aptos"/>
              </a:rPr>
              <a:t>nxp_digital_twins • use cases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641908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6C2D9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7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411480"/>
            <a:ext cx="1554480" cy="1554480"/>
          </a:xfrm>
          <a:prstGeom prst="ellipse">
            <a:avLst/>
          </a:prstGeom>
          <a:solidFill>
            <a:srgbClr val="47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1051560"/>
            <a:ext cx="960120" cy="960120"/>
          </a:xfrm>
          <a:prstGeom prst="ellipse">
            <a:avLst/>
          </a:prstGeom>
          <a:solidFill>
            <a:srgbClr val="3DE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11480" y="5349240"/>
            <a:ext cx="1280160" cy="1280160"/>
          </a:xfrm>
          <a:prstGeom prst="ellipse">
            <a:avLst/>
          </a:prstGeom>
          <a:solidFill>
            <a:srgbClr val="A7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384048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B"/>
                </a:solidFill>
                <a:latin typeface="Aptos"/>
              </a:rPr>
              <a:t>What comes next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950976"/>
            <a:ext cx="1417320" cy="45720"/>
          </a:xfrm>
          <a:prstGeom prst="rect">
            <a:avLst/>
          </a:prstGeom>
          <a:solidFill>
            <a:srgbClr val="3DE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9808" y="1417320"/>
            <a:ext cx="5349240" cy="4297680"/>
          </a:xfrm>
          <a:prstGeom prst="roundRect">
            <a:avLst/>
          </a:prstGeom>
          <a:solidFill>
            <a:srgbClr val="12192B"/>
          </a:solidFill>
          <a:ln w="12700">
            <a:solidFill>
              <a:srgbClr val="2B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55080" y="1417320"/>
            <a:ext cx="5074920" cy="4297680"/>
          </a:xfrm>
          <a:prstGeom prst="roundRect">
            <a:avLst/>
          </a:prstGeom>
          <a:solidFill>
            <a:srgbClr val="12192B"/>
          </a:solidFill>
          <a:ln w="12700">
            <a:solidFill>
              <a:srgbClr val="2B3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170078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DE1D3"/>
                </a:solidFill>
                <a:latin typeface="Aptos"/>
              </a:rPr>
              <a:t>Engineering roadmap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05740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5F7FB"/>
                </a:solidFill>
                <a:latin typeface="Aptos"/>
              </a:defRPr>
            </a:pPr>
            <a:r>
              <a:t>Add higher-fidelity attributes: clocks, buses, power, connectors, sensors</a:t>
            </a:r>
          </a:p>
          <a:p>
            <a:pPr>
              <a:spcAft>
                <a:spcPts val="600"/>
              </a:spcAft>
              <a:defRPr sz="1800">
                <a:solidFill>
                  <a:srgbClr val="F5F7FB"/>
                </a:solidFill>
                <a:latin typeface="Aptos"/>
              </a:defRPr>
            </a:pPr>
            <a:r>
              <a:t>Create per-board curated twins under knowledge/twins/</a:t>
            </a:r>
          </a:p>
          <a:p>
            <a:pPr>
              <a:spcAft>
                <a:spcPts val="600"/>
              </a:spcAft>
              <a:defRPr sz="1800">
                <a:solidFill>
                  <a:srgbClr val="F5F7FB"/>
                </a:solidFill>
                <a:latin typeface="Aptos"/>
              </a:defRPr>
            </a:pPr>
            <a:r>
              <a:t>Add search and filtering by capability and family</a:t>
            </a:r>
          </a:p>
          <a:p>
            <a:pPr>
              <a:spcAft>
                <a:spcPts val="600"/>
              </a:spcAft>
              <a:defRPr sz="1800">
                <a:solidFill>
                  <a:srgbClr val="F5F7FB"/>
                </a:solidFill>
                <a:latin typeface="Aptos"/>
              </a:defRPr>
            </a:pPr>
            <a:r>
              <a:t>Expand validation automation around build, flash, and runtime checks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170078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A03D"/>
                </a:solidFill>
                <a:latin typeface="Aptos"/>
              </a:rPr>
              <a:t>Takeaway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2057400"/>
            <a:ext cx="4206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5F7FB"/>
                </a:solidFill>
                <a:latin typeface="Aptos"/>
              </a:defRPr>
            </a:pPr>
            <a:r>
              <a:t>nxp_digital_twins is a practical bridge from Zephyr board support to digital twin operations</a:t>
            </a:r>
          </a:p>
          <a:p>
            <a:pPr>
              <a:spcAft>
                <a:spcPts val="600"/>
              </a:spcAft>
              <a:defRPr sz="1800">
                <a:solidFill>
                  <a:srgbClr val="F5F7FB"/>
                </a:solidFill>
                <a:latin typeface="Aptos"/>
              </a:defRPr>
            </a:pPr>
            <a:r>
              <a:t>It already supports discovery, seed generation, custom board derivation, and lab-aware validation</a:t>
            </a:r>
          </a:p>
          <a:p>
            <a:pPr>
              <a:spcAft>
                <a:spcPts val="600"/>
              </a:spcAft>
              <a:defRPr sz="1800">
                <a:solidFill>
                  <a:srgbClr val="F5F7FB"/>
                </a:solidFill>
                <a:latin typeface="Aptos"/>
              </a:defRPr>
            </a:pPr>
            <a:r>
              <a:t>The next step is deeper board-specific enrichment, not reinventing the foundation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1908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6C2D9"/>
                </a:solidFill>
                <a:latin typeface="Aptos"/>
              </a:rPr>
              <a:t>nxp_digital_twins • next steps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641908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6C2D9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